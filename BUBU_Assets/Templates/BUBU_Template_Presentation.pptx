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embeddedFontLst>
    <p:embeddedFont>
      <p:font typeface="Bebas Neue"/>
      <p:regular r:id="rId28"/>
    </p:embeddedFont>
    <p:embeddedFont>
      <p:font typeface="Poppins"/>
      <p:regular r:id="rId29"/>
      <p:bold r:id="rId30"/>
      <p:italic r:id="rId31"/>
      <p:boldItalic r:id="rId32"/>
    </p:embeddedFont>
    <p:embeddedFont>
      <p:font typeface="Comfortaa"/>
      <p:regular r:id="rId33"/>
      <p:bold r:id="rId3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font" Target="fonts/font1.fntdata"/><Relationship Id="rId29" Type="http://schemas.openxmlformats.org/officeDocument/2006/relationships/font" Target="fonts/font2.fntdata"/><Relationship Id="rId30" Type="http://schemas.openxmlformats.org/officeDocument/2006/relationships/font" Target="fonts/font3.fntdata"/><Relationship Id="rId31" Type="http://schemas.openxmlformats.org/officeDocument/2006/relationships/font" Target="fonts/font4.fntdata"/><Relationship Id="rId32" Type="http://schemas.openxmlformats.org/officeDocument/2006/relationships/font" Target="fonts/font5.fntdata"/><Relationship Id="rId33" Type="http://schemas.openxmlformats.org/officeDocument/2006/relationships/font" Target="fonts/font6.fntdata"/><Relationship Id="rId3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094415" cy="5943600"/>
          </a:xfrm>
          <a:prstGeom prst="rect">
            <a:avLst/>
          </a:prstGeom>
          <a:ln w="9525">
            <a:solidFill>
              <a:srgbClr val="E4E4E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40080"/>
            <a:ext cx="3108960" cy="3108960"/>
          </a:xfrm>
          <a:prstGeom prst="oval">
            <a:avLst/>
          </a:prstGeom>
          <a:ln w="9525">
            <a:solidFill>
              <a:srgbClr val="E4E4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42655" y="640080"/>
            <a:ext cx="3108960" cy="3108960"/>
          </a:xfrm>
          <a:prstGeom prst="oval">
            <a:avLst/>
          </a:prstGeom>
          <a:ln w="9525">
            <a:solidFill>
              <a:srgbClr val="E4E4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822960"/>
            <a:ext cx="146304" cy="146304"/>
          </a:xfrm>
          <a:prstGeom prst="mathPlus">
            <a:avLst/>
          </a:prstGeom>
          <a:solidFill>
            <a:srgbClr val="CCCCCC"/>
          </a:solidFill>
          <a:ln/>
        </p:spPr>
      </p:sp>
      <p:sp>
        <p:nvSpPr>
          <p:cNvPr id="6" name="Shape 4"/>
          <p:cNvSpPr/>
          <p:nvPr/>
        </p:nvSpPr>
        <p:spPr>
          <a:xfrm>
            <a:off x="11338560" y="1280160"/>
            <a:ext cx="146304" cy="146304"/>
          </a:xfrm>
          <a:prstGeom prst="mathMultiply">
            <a:avLst/>
          </a:prstGeom>
          <a:solidFill>
            <a:srgbClr val="CCCCCC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5852160"/>
            <a:ext cx="146304" cy="146304"/>
          </a:xfrm>
          <a:prstGeom prst="mathMultiply">
            <a:avLst/>
          </a:prstGeom>
          <a:solidFill>
            <a:srgbClr val="CCCCCC"/>
          </a:solidFill>
          <a:ln/>
        </p:spPr>
      </p:sp>
      <p:sp>
        <p:nvSpPr>
          <p:cNvPr id="8" name="Shape 6"/>
          <p:cNvSpPr/>
          <p:nvPr/>
        </p:nvSpPr>
        <p:spPr>
          <a:xfrm>
            <a:off x="10881360" y="6035040"/>
            <a:ext cx="146304" cy="146304"/>
          </a:xfrm>
          <a:prstGeom prst="mathPlus">
            <a:avLst/>
          </a:prstGeom>
          <a:solidFill>
            <a:srgbClr val="CCCCCC"/>
          </a:solidFill>
          <a:ln/>
        </p:spPr>
      </p:sp>
      <p:sp>
        <p:nvSpPr>
          <p:cNvPr id="9" name="Shape 7"/>
          <p:cNvSpPr/>
          <p:nvPr/>
        </p:nvSpPr>
        <p:spPr>
          <a:xfrm>
            <a:off x="6035040" y="640080"/>
            <a:ext cx="146304" cy="146304"/>
          </a:xfrm>
          <a:prstGeom prst="mathPlus">
            <a:avLst/>
          </a:prstGeom>
          <a:solidFill>
            <a:srgbClr val="CCCCCC"/>
          </a:solidFill>
          <a:ln/>
        </p:spPr>
      </p:sp>
      <p:sp>
        <p:nvSpPr>
          <p:cNvPr id="10" name="Shape 8"/>
          <p:cNvSpPr/>
          <p:nvPr/>
        </p:nvSpPr>
        <p:spPr>
          <a:xfrm>
            <a:off x="11612880" y="3566160"/>
            <a:ext cx="146304" cy="146304"/>
          </a:xfrm>
          <a:prstGeom prst="mathPlus">
            <a:avLst/>
          </a:prstGeom>
          <a:solidFill>
            <a:srgbClr val="CCCCCC"/>
          </a:solidFill>
          <a:ln/>
        </p:spPr>
      </p:sp>
      <p:pic>
        <p:nvPicPr>
          <p:cNvPr id="11" name="Image 0" descr="/sessions/loving-quirky-ritchie/mnt/outputs/skill-build/bubu-presentation/assets/logo/bubu-wordmark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18608" y="1234440"/>
            <a:ext cx="1554480" cy="777240"/>
          </a:xfrm>
          <a:prstGeom prst="rect">
            <a:avLst/>
          </a:prstGeom>
        </p:spPr>
      </p:pic>
      <p:pic>
        <p:nvPicPr>
          <p:cNvPr id="12" name="Image 1" descr="/sessions/loving-quirky-ritchie/mnt/outputs/skill-build/bubu-presentation/assets/logo/bubu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2468880"/>
            <a:ext cx="1002323" cy="17373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2240280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THE CULTURAL
</a:t>
            </a:r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INTELLIGENCE
</a:t>
            </a:r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NETWORK</a:t>
            </a:r>
            <a:endParaRPr lang="en-US" sz="4800" dirty="0"/>
          </a:p>
        </p:txBody>
      </p:sp>
      <p:sp>
        <p:nvSpPr>
          <p:cNvPr id="14" name="Text 10"/>
          <p:cNvSpPr/>
          <p:nvPr/>
        </p:nvSpPr>
        <p:spPr>
          <a:xfrm>
            <a:off x="548640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Company Profile 2026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4986406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Cultural Intelligence Agency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5A5A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HERO CAMPAIGN IMAGE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3017520"/>
            <a:ext cx="12191695" cy="3840480"/>
          </a:xfrm>
          <a:prstGeom prst="rect">
            <a:avLst/>
          </a:prstGeom>
          <a:solidFill>
            <a:srgbClr val="000000">
              <a:alpha val="75000"/>
            </a:srgbClr>
          </a:solidFill>
          <a:ln/>
        </p:spPr>
      </p:sp>
      <p:pic>
        <p:nvPicPr>
          <p:cNvPr id="5" name="Image 0" descr="/sessions/loving-quirky-ritchie/mnt/outputs/skill-build/bubu-presentation/assets/logo/bubu-wordmar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371600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405311" y="512064"/>
            <a:ext cx="237744" cy="237744"/>
          </a:xfrm>
          <a:prstGeom prst="rect">
            <a:avLst/>
          </a:prstGeom>
          <a:solidFill>
            <a:srgbClr val="FF5E0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4114800"/>
            <a:ext cx="11094415" cy="1828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ct val="92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MOVE BEYOND
</a:t>
            </a:r>
            <a:pPr indent="0" marL="0">
              <a:lnSpc>
                <a:spcPct val="92000"/>
              </a:lnSpc>
              <a:buNone/>
            </a:pPr>
            <a:r>
              <a:rPr lang="en-US" sz="60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THE CAMPAIGN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7B7B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Company Profile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986406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7B7B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Cultural Intelligence Agency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loving-quirky-ritchie/mnt/outputs/skill-build/bubu-presentation/assets/logo/bubu-mark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9967593" y="-1367942"/>
            <a:ext cx="3587262" cy="6217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05840" y="822960"/>
            <a:ext cx="146304" cy="146304"/>
          </a:xfrm>
          <a:prstGeom prst="mathPlus">
            <a:avLst/>
          </a:prstGeom>
          <a:solidFill>
            <a:srgbClr val="3A3A3A"/>
          </a:solidFill>
          <a:ln/>
        </p:spPr>
      </p:sp>
      <p:sp>
        <p:nvSpPr>
          <p:cNvPr id="4" name="Shape 1"/>
          <p:cNvSpPr/>
          <p:nvPr/>
        </p:nvSpPr>
        <p:spPr>
          <a:xfrm>
            <a:off x="11338560" y="1280160"/>
            <a:ext cx="146304" cy="146304"/>
          </a:xfrm>
          <a:prstGeom prst="mathMultiply">
            <a:avLst/>
          </a:prstGeom>
          <a:solidFill>
            <a:srgbClr val="3A3A3A"/>
          </a:solidFill>
          <a:ln/>
        </p:spPr>
      </p:sp>
      <p:sp>
        <p:nvSpPr>
          <p:cNvPr id="5" name="Shape 2"/>
          <p:cNvSpPr/>
          <p:nvPr/>
        </p:nvSpPr>
        <p:spPr>
          <a:xfrm>
            <a:off x="822960" y="5852160"/>
            <a:ext cx="146304" cy="146304"/>
          </a:xfrm>
          <a:prstGeom prst="mathMultiply">
            <a:avLst/>
          </a:prstGeom>
          <a:solidFill>
            <a:srgbClr val="3A3A3A"/>
          </a:solidFill>
          <a:ln/>
        </p:spPr>
      </p:sp>
      <p:sp>
        <p:nvSpPr>
          <p:cNvPr id="6" name="Shape 3"/>
          <p:cNvSpPr/>
          <p:nvPr/>
        </p:nvSpPr>
        <p:spPr>
          <a:xfrm>
            <a:off x="10881360" y="6035040"/>
            <a:ext cx="146304" cy="146304"/>
          </a:xfrm>
          <a:prstGeom prst="mathPlus">
            <a:avLst/>
          </a:prstGeom>
          <a:solidFill>
            <a:srgbClr val="3A3A3A"/>
          </a:solidFill>
          <a:ln/>
        </p:spPr>
      </p:sp>
      <p:sp>
        <p:nvSpPr>
          <p:cNvPr id="7" name="Shape 4"/>
          <p:cNvSpPr/>
          <p:nvPr/>
        </p:nvSpPr>
        <p:spPr>
          <a:xfrm>
            <a:off x="6035040" y="640080"/>
            <a:ext cx="146304" cy="146304"/>
          </a:xfrm>
          <a:prstGeom prst="mathPlus">
            <a:avLst/>
          </a:prstGeom>
          <a:solidFill>
            <a:srgbClr val="3A3A3A"/>
          </a:solidFill>
          <a:ln/>
        </p:spPr>
      </p:sp>
      <p:sp>
        <p:nvSpPr>
          <p:cNvPr id="8" name="Shape 5"/>
          <p:cNvSpPr/>
          <p:nvPr/>
        </p:nvSpPr>
        <p:spPr>
          <a:xfrm>
            <a:off x="11612880" y="3566160"/>
            <a:ext cx="146304" cy="146304"/>
          </a:xfrm>
          <a:prstGeom prst="mathPlus">
            <a:avLst/>
          </a:prstGeom>
          <a:solidFill>
            <a:srgbClr val="3A3A3A"/>
          </a:solidFill>
          <a:ln/>
        </p:spPr>
      </p:sp>
      <p:sp>
        <p:nvSpPr>
          <p:cNvPr id="9" name="Shape 6"/>
          <p:cNvSpPr/>
          <p:nvPr/>
        </p:nvSpPr>
        <p:spPr>
          <a:xfrm>
            <a:off x="11405311" y="512064"/>
            <a:ext cx="237744" cy="237744"/>
          </a:xfrm>
          <a:prstGeom prst="rect">
            <a:avLst/>
          </a:prstGeom>
          <a:solidFill>
            <a:srgbClr val="FF5E00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0058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01</a:t>
            </a:r>
            <a:endParaRPr lang="en-US" sz="8000" dirty="0"/>
          </a:p>
        </p:txBody>
      </p:sp>
      <p:sp>
        <p:nvSpPr>
          <p:cNvPr id="11" name="Text 8"/>
          <p:cNvSpPr/>
          <p:nvPr/>
        </p:nvSpPr>
        <p:spPr>
          <a:xfrm>
            <a:off x="548640" y="2468880"/>
            <a:ext cx="776609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WHO WE ARE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2743200"/>
            <a:ext cx="9430253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6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A CULTURAL</a:t>
            </a:r>
            <a:endParaRPr lang="en-US" sz="76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76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INTELLIGENCE</a:t>
            </a:r>
            <a:endParaRPr lang="en-US" sz="76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76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AGENCY</a:t>
            </a:r>
            <a:endParaRPr lang="en-US" sz="760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7B7B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Company Profile 2026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986406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7B7B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Cultural Intelligence Agency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05311" y="512064"/>
            <a:ext cx="237744" cy="237744"/>
          </a:xfrm>
          <a:prstGeom prst="rect">
            <a:avLst/>
          </a:prstGeom>
          <a:solidFill>
            <a:srgbClr val="FF5E00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" y="822960"/>
            <a:ext cx="146304" cy="146304"/>
          </a:xfrm>
          <a:prstGeom prst="mathPlus">
            <a:avLst/>
          </a:prstGeom>
          <a:solidFill>
            <a:srgbClr val="CCCCCC"/>
          </a:solidFill>
          <a:ln/>
        </p:spPr>
      </p:sp>
      <p:sp>
        <p:nvSpPr>
          <p:cNvPr id="4" name="Shape 2"/>
          <p:cNvSpPr/>
          <p:nvPr/>
        </p:nvSpPr>
        <p:spPr>
          <a:xfrm>
            <a:off x="11338560" y="1280160"/>
            <a:ext cx="146304" cy="146304"/>
          </a:xfrm>
          <a:prstGeom prst="mathMultiply">
            <a:avLst/>
          </a:prstGeom>
          <a:solidFill>
            <a:srgbClr val="CCCCC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5852160"/>
            <a:ext cx="146304" cy="146304"/>
          </a:xfrm>
          <a:prstGeom prst="mathMultiply">
            <a:avLst/>
          </a:prstGeom>
          <a:solidFill>
            <a:srgbClr val="CCCCCC"/>
          </a:solidFill>
          <a:ln/>
        </p:spPr>
      </p:sp>
      <p:sp>
        <p:nvSpPr>
          <p:cNvPr id="6" name="Shape 4"/>
          <p:cNvSpPr/>
          <p:nvPr/>
        </p:nvSpPr>
        <p:spPr>
          <a:xfrm>
            <a:off x="10881360" y="6035040"/>
            <a:ext cx="146304" cy="146304"/>
          </a:xfrm>
          <a:prstGeom prst="mathPlus">
            <a:avLst/>
          </a:prstGeom>
          <a:solidFill>
            <a:srgbClr val="CCCCCC"/>
          </a:solidFill>
          <a:ln/>
        </p:spPr>
      </p:sp>
      <p:sp>
        <p:nvSpPr>
          <p:cNvPr id="7" name="Shape 5"/>
          <p:cNvSpPr/>
          <p:nvPr/>
        </p:nvSpPr>
        <p:spPr>
          <a:xfrm>
            <a:off x="6035040" y="640080"/>
            <a:ext cx="146304" cy="146304"/>
          </a:xfrm>
          <a:prstGeom prst="mathPlus">
            <a:avLst/>
          </a:prstGeom>
          <a:solidFill>
            <a:srgbClr val="CCCCCC"/>
          </a:solidFill>
          <a:ln/>
        </p:spPr>
      </p:sp>
      <p:sp>
        <p:nvSpPr>
          <p:cNvPr id="8" name="Shape 6"/>
          <p:cNvSpPr/>
          <p:nvPr/>
        </p:nvSpPr>
        <p:spPr>
          <a:xfrm>
            <a:off x="11612880" y="3566160"/>
            <a:ext cx="146304" cy="146304"/>
          </a:xfrm>
          <a:prstGeom prst="mathPlus">
            <a:avLst/>
          </a:prstGeom>
          <a:solidFill>
            <a:srgbClr val="CCCCC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6400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AGENDA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914400"/>
            <a:ext cx="110944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WHAT WE’LL COVER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548640" y="2011680"/>
            <a:ext cx="868680" cy="140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01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463040" y="2057400"/>
            <a:ext cx="4358488" cy="140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Cultural Shift
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relevance beats reach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3413760"/>
            <a:ext cx="868680" cy="140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02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463040" y="3459480"/>
            <a:ext cx="4358488" cy="140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BUBU Edge
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Culture · Data · Creativity · Tech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4815840"/>
            <a:ext cx="868680" cy="140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1463040" y="4861560"/>
            <a:ext cx="4358488" cy="140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Brand-to-Culture
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Belief → Movement → Legacy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70168" y="2011680"/>
            <a:ext cx="868680" cy="140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04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7284568" y="2057400"/>
            <a:ext cx="4358488" cy="140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Proof &amp; Work
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Selected campaigns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70168" y="3413760"/>
            <a:ext cx="868680" cy="140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05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7284568" y="3459480"/>
            <a:ext cx="4358488" cy="140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Approach
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we engage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70168" y="4815840"/>
            <a:ext cx="868680" cy="140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06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7284568" y="4861560"/>
            <a:ext cx="4358488" cy="140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Steps
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we go from here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Company Profile 2026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986406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Cultural Intelligence Agency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loving-quirky-ritchie/mnt/outputs/skill-build/bubu-presentation/assets/logo/bubu-mark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-1255542" y="2008022"/>
            <a:ext cx="3587262" cy="6217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05840" y="822960"/>
            <a:ext cx="146304" cy="146304"/>
          </a:xfrm>
          <a:prstGeom prst="mathPlus">
            <a:avLst/>
          </a:prstGeom>
          <a:solidFill>
            <a:srgbClr val="3A3A3A"/>
          </a:solidFill>
          <a:ln/>
        </p:spPr>
      </p:sp>
      <p:sp>
        <p:nvSpPr>
          <p:cNvPr id="4" name="Shape 1"/>
          <p:cNvSpPr/>
          <p:nvPr/>
        </p:nvSpPr>
        <p:spPr>
          <a:xfrm>
            <a:off x="11338560" y="1280160"/>
            <a:ext cx="146304" cy="146304"/>
          </a:xfrm>
          <a:prstGeom prst="mathMultiply">
            <a:avLst/>
          </a:prstGeom>
          <a:solidFill>
            <a:srgbClr val="3A3A3A"/>
          </a:solidFill>
          <a:ln/>
        </p:spPr>
      </p:sp>
      <p:sp>
        <p:nvSpPr>
          <p:cNvPr id="5" name="Shape 2"/>
          <p:cNvSpPr/>
          <p:nvPr/>
        </p:nvSpPr>
        <p:spPr>
          <a:xfrm>
            <a:off x="822960" y="5852160"/>
            <a:ext cx="146304" cy="146304"/>
          </a:xfrm>
          <a:prstGeom prst="mathMultiply">
            <a:avLst/>
          </a:prstGeom>
          <a:solidFill>
            <a:srgbClr val="3A3A3A"/>
          </a:solidFill>
          <a:ln/>
        </p:spPr>
      </p:sp>
      <p:sp>
        <p:nvSpPr>
          <p:cNvPr id="6" name="Shape 3"/>
          <p:cNvSpPr/>
          <p:nvPr/>
        </p:nvSpPr>
        <p:spPr>
          <a:xfrm>
            <a:off x="10881360" y="6035040"/>
            <a:ext cx="146304" cy="146304"/>
          </a:xfrm>
          <a:prstGeom prst="mathPlus">
            <a:avLst/>
          </a:prstGeom>
          <a:solidFill>
            <a:srgbClr val="3A3A3A"/>
          </a:solidFill>
          <a:ln/>
        </p:spPr>
      </p:sp>
      <p:sp>
        <p:nvSpPr>
          <p:cNvPr id="7" name="Shape 4"/>
          <p:cNvSpPr/>
          <p:nvPr/>
        </p:nvSpPr>
        <p:spPr>
          <a:xfrm>
            <a:off x="6035040" y="640080"/>
            <a:ext cx="146304" cy="146304"/>
          </a:xfrm>
          <a:prstGeom prst="mathPlus">
            <a:avLst/>
          </a:prstGeom>
          <a:solidFill>
            <a:srgbClr val="3A3A3A"/>
          </a:solidFill>
          <a:ln/>
        </p:spPr>
      </p:sp>
      <p:sp>
        <p:nvSpPr>
          <p:cNvPr id="8" name="Shape 5"/>
          <p:cNvSpPr/>
          <p:nvPr/>
        </p:nvSpPr>
        <p:spPr>
          <a:xfrm>
            <a:off x="11612880" y="3566160"/>
            <a:ext cx="146304" cy="146304"/>
          </a:xfrm>
          <a:prstGeom prst="mathPlus">
            <a:avLst/>
          </a:prstGeom>
          <a:solidFill>
            <a:srgbClr val="3A3A3A"/>
          </a:solidFill>
          <a:ln/>
        </p:spPr>
      </p:sp>
      <p:sp>
        <p:nvSpPr>
          <p:cNvPr id="9" name="Shape 6"/>
          <p:cNvSpPr/>
          <p:nvPr/>
        </p:nvSpPr>
        <p:spPr>
          <a:xfrm>
            <a:off x="11405311" y="512064"/>
            <a:ext cx="237744" cy="237744"/>
          </a:xfrm>
          <a:prstGeom prst="rect">
            <a:avLst/>
          </a:prstGeom>
          <a:solidFill>
            <a:srgbClr val="FF5E00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9144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BELIEF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1463040"/>
            <a:ext cx="11094415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IT’S NOT ABOUT VISIBILITY.
</a:t>
            </a:r>
            <a:pPr algn="l" indent="0" marL="0">
              <a:lnSpc>
                <a:spcPct val="95000"/>
              </a:lnSpc>
              <a:buNone/>
            </a:pPr>
            <a:r>
              <a:rPr lang="en-US" sz="60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IT’S ABOUT RELEVANCE.</a:t>
            </a:r>
            <a:endParaRPr lang="en-US" sz="6000" dirty="0"/>
          </a:p>
        </p:txBody>
      </p:sp>
      <p:sp>
        <p:nvSpPr>
          <p:cNvPr id="12" name="Text 9"/>
          <p:cNvSpPr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B7B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BUBU — Cultural Intelligence Agency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7B7B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Company Profile 2026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986406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7B7B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Cultural Intelligence Agency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828800"/>
            <a:ext cx="4572000" cy="4572000"/>
          </a:xfrm>
          <a:prstGeom prst="oval">
            <a:avLst/>
          </a:prstGeom>
          <a:ln w="12700">
            <a:solidFill>
              <a:srgbClr val="E4E4E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480560"/>
            <a:ext cx="3840480" cy="3840480"/>
          </a:xfrm>
          <a:prstGeom prst="oval">
            <a:avLst/>
          </a:prstGeom>
          <a:ln w="12700">
            <a:solidFill>
              <a:srgbClr val="E4E4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05311" y="512064"/>
            <a:ext cx="237744" cy="237744"/>
          </a:xfrm>
          <a:prstGeom prst="rect">
            <a:avLst/>
          </a:prstGeom>
          <a:solidFill>
            <a:srgbClr val="FF5E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858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BY THE NUMBERS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THREE DECADES OF CULTURAL IMPACT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339333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30</a:t>
            </a:r>
            <a:pPr algn="l" indent="0" marL="0">
              <a:buNone/>
            </a:pPr>
            <a:r>
              <a:rPr lang="en-US" sz="40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YRS</a:t>
            </a:r>
            <a:endParaRPr lang="en-US" sz="9200" dirty="0"/>
          </a:p>
        </p:txBody>
      </p:sp>
      <p:sp>
        <p:nvSpPr>
          <p:cNvPr id="8" name="Text 6"/>
          <p:cNvSpPr/>
          <p:nvPr/>
        </p:nvSpPr>
        <p:spPr>
          <a:xfrm>
            <a:off x="548640" y="3886200"/>
            <a:ext cx="339333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Pioneering Indonesia’s digital culture since 1996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99178" y="2377440"/>
            <a:ext cx="339333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62.5</a:t>
            </a:r>
            <a:pPr algn="l" indent="0" marL="0">
              <a:buNone/>
            </a:pPr>
            <a:r>
              <a:rPr lang="en-US" sz="40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M</a:t>
            </a:r>
            <a:endParaRPr lang="en-US" sz="9200" dirty="0"/>
          </a:p>
        </p:txBody>
      </p:sp>
      <p:sp>
        <p:nvSpPr>
          <p:cNvPr id="10" name="Text 8"/>
          <p:cNvSpPr/>
          <p:nvPr/>
        </p:nvSpPr>
        <p:spPr>
          <a:xfrm>
            <a:off x="4399178" y="3886200"/>
            <a:ext cx="339333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TikTok reach, Manchester United ID &amp; MY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49717" y="2377440"/>
            <a:ext cx="339333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300</a:t>
            </a:r>
            <a:pPr algn="l" indent="0" marL="0">
              <a:buNone/>
            </a:pPr>
            <a:r>
              <a:rPr lang="en-US" sz="40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%</a:t>
            </a:r>
            <a:endParaRPr lang="en-US" sz="9200" dirty="0"/>
          </a:p>
        </p:txBody>
      </p:sp>
      <p:sp>
        <p:nvSpPr>
          <p:cNvPr id="12" name="Text 10"/>
          <p:cNvSpPr/>
          <p:nvPr/>
        </p:nvSpPr>
        <p:spPr>
          <a:xfrm>
            <a:off x="8249717" y="3886200"/>
            <a:ext cx="339333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Sales lift from integrated AXE activations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Company Profile 2026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986406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Cultural Intelligence Agency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loving-quirky-ritchie/mnt/outputs/skill-build/bubu-presentation/assets/logo/bubu-mark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9967593" y="-1367942"/>
            <a:ext cx="3587262" cy="6217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05311" y="512064"/>
            <a:ext cx="237744" cy="237744"/>
          </a:xfrm>
          <a:prstGeom prst="rect">
            <a:avLst/>
          </a:prstGeom>
          <a:solidFill>
            <a:srgbClr val="FF5E00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731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HEADLINE RESULT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67665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300</a:t>
            </a:r>
            <a:pPr algn="l" indent="0" marL="0">
              <a:buNone/>
            </a:pPr>
            <a:r>
              <a:rPr lang="en-US" sz="96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%</a:t>
            </a:r>
            <a:endParaRPr lang="en-US" sz="23000" dirty="0"/>
          </a:p>
        </p:txBody>
      </p:sp>
      <p:sp>
        <p:nvSpPr>
          <p:cNvPr id="6" name="Text 3"/>
          <p:cNvSpPr/>
          <p:nvPr/>
        </p:nvSpPr>
        <p:spPr>
          <a:xfrm>
            <a:off x="7498080" y="219456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SALES INCREASE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498080" y="356616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Integrated digital activations for AXE drove a 300% sales lift — relevance translated directly into revenue.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Company Profile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986406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Cultural Intelligence Agency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05311" y="512064"/>
            <a:ext cx="237744" cy="237744"/>
          </a:xfrm>
          <a:prstGeom prst="rect">
            <a:avLst/>
          </a:prstGeom>
          <a:solidFill>
            <a:srgbClr val="FF5E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THE NUMBERS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410048" cy="19431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86000"/>
            <a:ext cx="4769968" cy="148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17.7M
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Instagram reach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6233008" y="2057400"/>
            <a:ext cx="5410048" cy="19431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8" name="Text 6"/>
          <p:cNvSpPr/>
          <p:nvPr/>
        </p:nvSpPr>
        <p:spPr>
          <a:xfrm>
            <a:off x="6553048" y="2286000"/>
            <a:ext cx="4769968" cy="148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62.5M
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TikTok reach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548640" y="4274820"/>
            <a:ext cx="5410048" cy="19431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503420"/>
            <a:ext cx="4769968" cy="148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150+
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Media placements</a:t>
            </a:r>
            <a:endParaRPr lang="en-US" sz="4400" dirty="0"/>
          </a:p>
        </p:txBody>
      </p:sp>
      <p:sp>
        <p:nvSpPr>
          <p:cNvPr id="11" name="Shape 9"/>
          <p:cNvSpPr/>
          <p:nvPr/>
        </p:nvSpPr>
        <p:spPr>
          <a:xfrm>
            <a:off x="6233008" y="4274820"/>
            <a:ext cx="5410048" cy="19431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2" name="Text 10"/>
          <p:cNvSpPr/>
          <p:nvPr/>
        </p:nvSpPr>
        <p:spPr>
          <a:xfrm>
            <a:off x="6553048" y="4503420"/>
            <a:ext cx="4769968" cy="148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10K
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Pieces of UGC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Company Profile 2026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986406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Cultural Intelligence Agency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05311" y="512064"/>
            <a:ext cx="237744" cy="237744"/>
          </a:xfrm>
          <a:prstGeom prst="rect">
            <a:avLst/>
          </a:prstGeom>
          <a:solidFill>
            <a:srgbClr val="FF5E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BUBU EDGE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441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44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CULTURE MEETS</a:t>
            </a:r>
            <a:endParaRPr lang="en-US" sz="44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44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TECHNOLOGY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272888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Deep immersion in subcultures and youth communities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Signal tracking and behavioral data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Creative translation into shareable moments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&amp; Web3 to amplify intelligence and reach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70168" y="2194560"/>
            <a:ext cx="5272888" cy="402336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7" name="Text 5"/>
          <p:cNvSpPr/>
          <p:nvPr/>
        </p:nvSpPr>
        <p:spPr>
          <a:xfrm>
            <a:off x="6370168" y="2194560"/>
            <a:ext cx="5272888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B7B7B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CULTURE VISUAL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Company Profile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986406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Cultural Intelligence Agency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05311" y="512064"/>
            <a:ext cx="237744" cy="237744"/>
          </a:xfrm>
          <a:prstGeom prst="rect">
            <a:avLst/>
          </a:prstGeom>
          <a:solidFill>
            <a:srgbClr val="FF5E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FRAMEWORK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BRAND-TO-CULTURE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48640" y="2130552"/>
            <a:ext cx="585216" cy="585216"/>
          </a:xfrm>
          <a:prstGeom prst="rect">
            <a:avLst/>
          </a:prstGeom>
          <a:solidFill>
            <a:srgbClr val="FF5E0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3055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17320" y="2057400"/>
            <a:ext cx="10225735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Belief
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Define what the brand truly stands for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962656"/>
            <a:ext cx="585216" cy="585216"/>
          </a:xfrm>
          <a:prstGeom prst="rect">
            <a:avLst/>
          </a:prstGeom>
          <a:solidFill>
            <a:srgbClr val="FF5E0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62656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17320" y="2889504"/>
            <a:ext cx="10225735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Signal
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Identify what communities care about and why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585216" cy="585216"/>
          </a:xfrm>
          <a:prstGeom prst="rect">
            <a:avLst/>
          </a:prstGeom>
          <a:solidFill>
            <a:srgbClr val="FF5E0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947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417320" y="3721608"/>
            <a:ext cx="10225735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Moment
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Design an immersive, shareable experience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626864"/>
            <a:ext cx="585216" cy="585216"/>
          </a:xfrm>
          <a:prstGeom prst="rect">
            <a:avLst/>
          </a:prstGeom>
          <a:solidFill>
            <a:srgbClr val="FF5E0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626864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4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417320" y="4553712"/>
            <a:ext cx="10225735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Movement
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Activate audiences through participation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5458968"/>
            <a:ext cx="585216" cy="585216"/>
          </a:xfrm>
          <a:prstGeom prst="rect">
            <a:avLst/>
          </a:prstGeom>
          <a:solidFill>
            <a:srgbClr val="FF5E0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458968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5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417320" y="5385816"/>
            <a:ext cx="10225735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Legacy
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Shape conversations and long-term value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Company Profile 2026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986406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Cultural Intelligence Agency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05311" y="512064"/>
            <a:ext cx="237744" cy="237744"/>
          </a:xfrm>
          <a:prstGeom prst="rect">
            <a:avLst/>
          </a:prstGeom>
          <a:solidFill>
            <a:srgbClr val="FF5E00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" y="822960"/>
            <a:ext cx="146304" cy="146304"/>
          </a:xfrm>
          <a:prstGeom prst="mathPlus">
            <a:avLst/>
          </a:prstGeom>
          <a:solidFill>
            <a:srgbClr val="CCCCCC"/>
          </a:solidFill>
          <a:ln/>
        </p:spPr>
      </p:sp>
      <p:sp>
        <p:nvSpPr>
          <p:cNvPr id="4" name="Shape 2"/>
          <p:cNvSpPr/>
          <p:nvPr/>
        </p:nvSpPr>
        <p:spPr>
          <a:xfrm>
            <a:off x="11338560" y="1280160"/>
            <a:ext cx="146304" cy="146304"/>
          </a:xfrm>
          <a:prstGeom prst="mathMultiply">
            <a:avLst/>
          </a:prstGeom>
          <a:solidFill>
            <a:srgbClr val="CCCCC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5852160"/>
            <a:ext cx="146304" cy="146304"/>
          </a:xfrm>
          <a:prstGeom prst="mathMultiply">
            <a:avLst/>
          </a:prstGeom>
          <a:solidFill>
            <a:srgbClr val="CCCCCC"/>
          </a:solidFill>
          <a:ln/>
        </p:spPr>
      </p:sp>
      <p:sp>
        <p:nvSpPr>
          <p:cNvPr id="6" name="Shape 4"/>
          <p:cNvSpPr/>
          <p:nvPr/>
        </p:nvSpPr>
        <p:spPr>
          <a:xfrm>
            <a:off x="10881360" y="6035040"/>
            <a:ext cx="146304" cy="146304"/>
          </a:xfrm>
          <a:prstGeom prst="mathPlus">
            <a:avLst/>
          </a:prstGeom>
          <a:solidFill>
            <a:srgbClr val="CCCCCC"/>
          </a:solidFill>
          <a:ln/>
        </p:spPr>
      </p:sp>
      <p:sp>
        <p:nvSpPr>
          <p:cNvPr id="7" name="Shape 5"/>
          <p:cNvSpPr/>
          <p:nvPr/>
        </p:nvSpPr>
        <p:spPr>
          <a:xfrm>
            <a:off x="6035040" y="640080"/>
            <a:ext cx="146304" cy="146304"/>
          </a:xfrm>
          <a:prstGeom prst="mathPlus">
            <a:avLst/>
          </a:prstGeom>
          <a:solidFill>
            <a:srgbClr val="CCCCCC"/>
          </a:solidFill>
          <a:ln/>
        </p:spPr>
      </p:sp>
      <p:sp>
        <p:nvSpPr>
          <p:cNvPr id="8" name="Shape 6"/>
          <p:cNvSpPr/>
          <p:nvPr/>
        </p:nvSpPr>
        <p:spPr>
          <a:xfrm>
            <a:off x="11612880" y="3566160"/>
            <a:ext cx="146304" cy="146304"/>
          </a:xfrm>
          <a:prstGeom prst="mathPlus">
            <a:avLst/>
          </a:prstGeom>
          <a:solidFill>
            <a:srgbClr val="CCCCC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6400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WE ENGAGE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9144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THE PROCESS</a:t>
            </a:r>
            <a:endParaRPr lang="en-US" sz="4400" dirty="0"/>
          </a:p>
        </p:txBody>
      </p:sp>
      <p:sp>
        <p:nvSpPr>
          <p:cNvPr id="11" name="Shape 9"/>
          <p:cNvSpPr/>
          <p:nvPr/>
        </p:nvSpPr>
        <p:spPr>
          <a:xfrm>
            <a:off x="548640" y="2468880"/>
            <a:ext cx="777240" cy="777240"/>
          </a:xfrm>
          <a:prstGeom prst="oval">
            <a:avLst/>
          </a:prstGeom>
          <a:solidFill>
            <a:srgbClr val="FF5E0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4688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1417320" y="2852928"/>
            <a:ext cx="2859938" cy="0"/>
          </a:xfrm>
          <a:prstGeom prst="line">
            <a:avLst/>
          </a:prstGeom>
          <a:noFill/>
          <a:ln w="15875">
            <a:solidFill>
              <a:srgbClr val="CCCCCC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548640" y="3474720"/>
            <a:ext cx="345429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Deep Immerse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 inside the culture and community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368698" y="2468880"/>
            <a:ext cx="777240" cy="777240"/>
          </a:xfrm>
          <a:prstGeom prst="oval">
            <a:avLst/>
          </a:prstGeom>
          <a:solidFill>
            <a:srgbClr val="FF5E00"/>
          </a:solidFill>
          <a:ln/>
        </p:spPr>
      </p:sp>
      <p:sp>
        <p:nvSpPr>
          <p:cNvPr id="16" name="Text 14"/>
          <p:cNvSpPr/>
          <p:nvPr/>
        </p:nvSpPr>
        <p:spPr>
          <a:xfrm>
            <a:off x="4368698" y="24688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5237378" y="2852928"/>
            <a:ext cx="2859938" cy="0"/>
          </a:xfrm>
          <a:prstGeom prst="line">
            <a:avLst/>
          </a:prstGeom>
          <a:noFill/>
          <a:ln w="15875">
            <a:solidFill>
              <a:srgbClr val="CCCCCC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4368698" y="3474720"/>
            <a:ext cx="345429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Strategic Curation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Turn signals into a sharp strategy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188757" y="2468880"/>
            <a:ext cx="777240" cy="777240"/>
          </a:xfrm>
          <a:prstGeom prst="oval">
            <a:avLst/>
          </a:prstGeom>
          <a:solidFill>
            <a:srgbClr val="FF5E00"/>
          </a:solidFill>
          <a:ln/>
        </p:spPr>
      </p:sp>
      <p:sp>
        <p:nvSpPr>
          <p:cNvPr id="20" name="Text 18"/>
          <p:cNvSpPr/>
          <p:nvPr/>
        </p:nvSpPr>
        <p:spPr>
          <a:xfrm>
            <a:off x="8188757" y="24688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188757" y="3474720"/>
            <a:ext cx="345429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Measured Impact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Activate, measure, and scale what moves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Company Profile 2026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986406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Cultural Intelligence Agency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05311" y="512064"/>
            <a:ext cx="237744" cy="237744"/>
          </a:xfrm>
          <a:prstGeom prst="rect">
            <a:avLst/>
          </a:prstGeom>
          <a:solidFill>
            <a:srgbClr val="FF5E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TRUSTED BY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CLIENTS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602154" cy="123444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57400"/>
            <a:ext cx="260215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Manchester United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79394" y="2057400"/>
            <a:ext cx="2602154" cy="123444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8" name="Text 6"/>
          <p:cNvSpPr/>
          <p:nvPr/>
        </p:nvSpPr>
        <p:spPr>
          <a:xfrm>
            <a:off x="3379394" y="2057400"/>
            <a:ext cx="260215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Snapchat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0148" y="2057400"/>
            <a:ext cx="2602154" cy="123444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0" name="Text 8"/>
          <p:cNvSpPr/>
          <p:nvPr/>
        </p:nvSpPr>
        <p:spPr>
          <a:xfrm>
            <a:off x="6210148" y="2057400"/>
            <a:ext cx="260215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Unilever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040901" y="2057400"/>
            <a:ext cx="2602154" cy="123444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2" name="Text 10"/>
          <p:cNvSpPr/>
          <p:nvPr/>
        </p:nvSpPr>
        <p:spPr>
          <a:xfrm>
            <a:off x="9040901" y="2057400"/>
            <a:ext cx="260215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Reckitt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2602154" cy="123444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520440"/>
            <a:ext cx="260215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AXE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379394" y="3520440"/>
            <a:ext cx="2602154" cy="123444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6" name="Text 14"/>
          <p:cNvSpPr/>
          <p:nvPr/>
        </p:nvSpPr>
        <p:spPr>
          <a:xfrm>
            <a:off x="3379394" y="3520440"/>
            <a:ext cx="260215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Garuda Indonesia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0148" y="3520440"/>
            <a:ext cx="2602154" cy="123444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8" name="Text 16"/>
          <p:cNvSpPr/>
          <p:nvPr/>
        </p:nvSpPr>
        <p:spPr>
          <a:xfrm>
            <a:off x="6210148" y="3520440"/>
            <a:ext cx="260215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Telkom Metra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040901" y="3520440"/>
            <a:ext cx="2602154" cy="123444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20" name="Text 18"/>
          <p:cNvSpPr/>
          <p:nvPr/>
        </p:nvSpPr>
        <p:spPr>
          <a:xfrm>
            <a:off x="9040901" y="3520440"/>
            <a:ext cx="260215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Guardian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983480"/>
            <a:ext cx="2602154" cy="123444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983480"/>
            <a:ext cx="260215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PUBG Mobile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379394" y="4983480"/>
            <a:ext cx="2602154" cy="123444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24" name="Text 22"/>
          <p:cNvSpPr/>
          <p:nvPr/>
        </p:nvSpPr>
        <p:spPr>
          <a:xfrm>
            <a:off x="3379394" y="4983480"/>
            <a:ext cx="260215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Wardah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10148" y="4983480"/>
            <a:ext cx="2602154" cy="123444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26" name="Text 24"/>
          <p:cNvSpPr/>
          <p:nvPr/>
        </p:nvSpPr>
        <p:spPr>
          <a:xfrm>
            <a:off x="6210148" y="4983480"/>
            <a:ext cx="260215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TODAK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040901" y="4983480"/>
            <a:ext cx="2602154" cy="123444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28" name="Text 26"/>
          <p:cNvSpPr/>
          <p:nvPr/>
        </p:nvSpPr>
        <p:spPr>
          <a:xfrm>
            <a:off x="9040901" y="4983480"/>
            <a:ext cx="260215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Oi Ocha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Company Profile 2026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986406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Cultural Intelligence Agency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05311" y="512064"/>
            <a:ext cx="237744" cy="237744"/>
          </a:xfrm>
          <a:prstGeom prst="rect">
            <a:avLst/>
          </a:prstGeom>
          <a:solidFill>
            <a:srgbClr val="FF5E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SELECTED 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PORTFOLIO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15258" cy="157734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11680"/>
            <a:ext cx="3515258" cy="1577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B7B7B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LABX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616452"/>
            <a:ext cx="35152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Advan x Darbotz — street culture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38218" y="2011680"/>
            <a:ext cx="3515258" cy="157734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9" name="Text 7"/>
          <p:cNvSpPr/>
          <p:nvPr/>
        </p:nvSpPr>
        <p:spPr>
          <a:xfrm>
            <a:off x="4338218" y="2011680"/>
            <a:ext cx="3515258" cy="1577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B7B7B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GAMING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38218" y="3616452"/>
            <a:ext cx="35152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PUBG Mobile x Machine56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127797" y="2011680"/>
            <a:ext cx="3515258" cy="157734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2" name="Text 10"/>
          <p:cNvSpPr/>
          <p:nvPr/>
        </p:nvSpPr>
        <p:spPr>
          <a:xfrm>
            <a:off x="8127797" y="2011680"/>
            <a:ext cx="3515258" cy="1577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B7B7B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BEAUTY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127797" y="3616452"/>
            <a:ext cx="35152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Wardah — Brave Beauty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4320540"/>
            <a:ext cx="3515258" cy="157734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320540"/>
            <a:ext cx="3515258" cy="1577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B7B7B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ESPORTS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5925312"/>
            <a:ext cx="35152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TODAK — Battle Scars rebrand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38218" y="4320540"/>
            <a:ext cx="3515258" cy="157734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8" name="Text 16"/>
          <p:cNvSpPr/>
          <p:nvPr/>
        </p:nvSpPr>
        <p:spPr>
          <a:xfrm>
            <a:off x="4338218" y="4320540"/>
            <a:ext cx="3515258" cy="1577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B7B7B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38218" y="5925312"/>
            <a:ext cx="35152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Mesut Özil x Concave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27797" y="4320540"/>
            <a:ext cx="3515258" cy="157734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21" name="Text 19"/>
          <p:cNvSpPr/>
          <p:nvPr/>
        </p:nvSpPr>
        <p:spPr>
          <a:xfrm>
            <a:off x="8127797" y="4320540"/>
            <a:ext cx="3515258" cy="1577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B7B7B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TVC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127797" y="5925312"/>
            <a:ext cx="35152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Unilever — Dettol &amp; Sunlight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Company Profile 2026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986406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Cultural Intelligence Agency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05311" y="512064"/>
            <a:ext cx="237744" cy="237744"/>
          </a:xfrm>
          <a:prstGeom prst="rect">
            <a:avLst/>
          </a:prstGeom>
          <a:solidFill>
            <a:srgbClr val="FF5E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MILESTONES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OUR JOURNEY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48640" y="3703320"/>
            <a:ext cx="11094415" cy="0"/>
          </a:xfrm>
          <a:prstGeom prst="line">
            <a:avLst/>
          </a:prstGeom>
          <a:noFill/>
          <a:ln w="19050">
            <a:solidFill>
              <a:srgbClr val="FF5E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09167" y="3639312"/>
            <a:ext cx="128016" cy="128016"/>
          </a:xfrm>
          <a:prstGeom prst="oval">
            <a:avLst/>
          </a:prstGeom>
          <a:solidFill>
            <a:srgbClr val="FF5E0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971800"/>
            <a:ext cx="184906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1996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94360" y="2148840"/>
            <a:ext cx="1757629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Founded as a digital pioneer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58236" y="3639312"/>
            <a:ext cx="128016" cy="128016"/>
          </a:xfrm>
          <a:prstGeom prst="oval">
            <a:avLst/>
          </a:prstGeom>
          <a:solidFill>
            <a:srgbClr val="FF5E00"/>
          </a:solidFill>
          <a:ln/>
        </p:spPr>
      </p:sp>
      <p:sp>
        <p:nvSpPr>
          <p:cNvPr id="10" name="Text 8"/>
          <p:cNvSpPr/>
          <p:nvPr/>
        </p:nvSpPr>
        <p:spPr>
          <a:xfrm>
            <a:off x="2397709" y="3904488"/>
            <a:ext cx="184906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2011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443429" y="4453128"/>
            <a:ext cx="1757629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Launched IDByte tech conference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107305" y="3639312"/>
            <a:ext cx="128016" cy="128016"/>
          </a:xfrm>
          <a:prstGeom prst="oval">
            <a:avLst/>
          </a:prstGeom>
          <a:solidFill>
            <a:srgbClr val="FF5E00"/>
          </a:solidFill>
          <a:ln/>
        </p:spPr>
      </p:sp>
      <p:sp>
        <p:nvSpPr>
          <p:cNvPr id="13" name="Text 11"/>
          <p:cNvSpPr/>
          <p:nvPr/>
        </p:nvSpPr>
        <p:spPr>
          <a:xfrm>
            <a:off x="4246778" y="2971800"/>
            <a:ext cx="184906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2019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292498" y="2148840"/>
            <a:ext cx="1757629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BUBU Gaming &amp; StartUp Indonesia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56374" y="3639312"/>
            <a:ext cx="128016" cy="128016"/>
          </a:xfrm>
          <a:prstGeom prst="oval">
            <a:avLst/>
          </a:prstGeom>
          <a:solidFill>
            <a:srgbClr val="FF5E00"/>
          </a:solidFill>
          <a:ln/>
        </p:spPr>
      </p:sp>
      <p:sp>
        <p:nvSpPr>
          <p:cNvPr id="16" name="Text 14"/>
          <p:cNvSpPr/>
          <p:nvPr/>
        </p:nvSpPr>
        <p:spPr>
          <a:xfrm>
            <a:off x="6095848" y="3904488"/>
            <a:ext cx="184906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2021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141568" y="4453128"/>
            <a:ext cx="1757629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SuperGirls in Tech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805443" y="3639312"/>
            <a:ext cx="128016" cy="128016"/>
          </a:xfrm>
          <a:prstGeom prst="oval">
            <a:avLst/>
          </a:prstGeom>
          <a:solidFill>
            <a:srgbClr val="FF5E00"/>
          </a:solidFill>
          <a:ln/>
        </p:spPr>
      </p:sp>
      <p:sp>
        <p:nvSpPr>
          <p:cNvPr id="19" name="Text 17"/>
          <p:cNvSpPr/>
          <p:nvPr/>
        </p:nvSpPr>
        <p:spPr>
          <a:xfrm>
            <a:off x="7944917" y="2971800"/>
            <a:ext cx="184906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2025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990637" y="2148840"/>
            <a:ext cx="1757629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Rebranded as Cultural Intelligence Agency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654513" y="3639312"/>
            <a:ext cx="128016" cy="128016"/>
          </a:xfrm>
          <a:prstGeom prst="oval">
            <a:avLst/>
          </a:prstGeom>
          <a:solidFill>
            <a:srgbClr val="FF5E00"/>
          </a:solidFill>
          <a:ln/>
        </p:spPr>
      </p:sp>
      <p:sp>
        <p:nvSpPr>
          <p:cNvPr id="22" name="Text 20"/>
          <p:cNvSpPr/>
          <p:nvPr/>
        </p:nvSpPr>
        <p:spPr>
          <a:xfrm>
            <a:off x="9793986" y="3904488"/>
            <a:ext cx="184906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2026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9839706" y="4453128"/>
            <a:ext cx="1757629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International expansion — Jakarta to Dubai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Company Profile 2026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986406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Cultural Intelligence Agency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05311" y="512064"/>
            <a:ext cx="237744" cy="237744"/>
          </a:xfrm>
          <a:prstGeom prst="rect">
            <a:avLst/>
          </a:prstGeom>
          <a:solidFill>
            <a:srgbClr val="FF5E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THE SHIFT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18608" cy="41148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377440"/>
            <a:ext cx="4678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TRADITIONAL AGENCY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68680" y="3154680"/>
            <a:ext cx="4678528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Buys reach &amp; impressions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One-off campaigns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Brand talks at audiences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Success = visibility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24448" y="2103120"/>
            <a:ext cx="5318608" cy="4114800"/>
          </a:xfrm>
          <a:prstGeom prst="rect">
            <a:avLst/>
          </a:prstGeom>
          <a:solidFill>
            <a:srgbClr val="FF5E00"/>
          </a:solidFill>
          <a:ln/>
        </p:spPr>
      </p:sp>
      <p:sp>
        <p:nvSpPr>
          <p:cNvPr id="8" name="Text 6"/>
          <p:cNvSpPr/>
          <p:nvPr/>
        </p:nvSpPr>
        <p:spPr>
          <a:xfrm>
            <a:off x="6644488" y="2377440"/>
            <a:ext cx="4678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BUBU WAY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644488" y="3154680"/>
            <a:ext cx="4678528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Earns cultural relevance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Builds movements &amp; legacy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Communities participate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Success = belief → movement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Company Profile 2026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986406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Cultural Intelligence Agency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05311" y="512064"/>
            <a:ext cx="237744" cy="237744"/>
          </a:xfrm>
          <a:prstGeom prst="rect">
            <a:avLst/>
          </a:prstGeom>
          <a:solidFill>
            <a:srgbClr val="FF5E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PEOPLE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OUR TEAM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499284" cy="34290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11680"/>
            <a:ext cx="2499284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B7B7B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PHOTO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5486400"/>
            <a:ext cx="24992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Strategy Lead
</a:t>
            </a:r>
            <a:pPr indent="0" marL="0">
              <a:buNone/>
            </a:pPr>
            <a:r>
              <a:rPr lang="en-US" sz="1000" dirty="0">
                <a:solidFill>
                  <a:srgbClr val="FF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Cultural Intelligence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13684" y="2011680"/>
            <a:ext cx="2499284" cy="34290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9" name="Text 7"/>
          <p:cNvSpPr/>
          <p:nvPr/>
        </p:nvSpPr>
        <p:spPr>
          <a:xfrm>
            <a:off x="3413684" y="2011680"/>
            <a:ext cx="2499284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B7B7B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PHOTO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13684" y="5486400"/>
            <a:ext cx="24992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Creative Director
</a:t>
            </a:r>
            <a:pPr indent="0" marL="0">
              <a:buNone/>
            </a:pPr>
            <a:r>
              <a:rPr lang="en-US" sz="1000" dirty="0">
                <a:solidFill>
                  <a:srgbClr val="FF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Concept &amp; Craft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78728" y="2011680"/>
            <a:ext cx="2499284" cy="34290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2" name="Text 10"/>
          <p:cNvSpPr/>
          <p:nvPr/>
        </p:nvSpPr>
        <p:spPr>
          <a:xfrm>
            <a:off x="6278728" y="2011680"/>
            <a:ext cx="2499284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B7B7B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PHOTO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78728" y="5486400"/>
            <a:ext cx="24992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Lead
</a:t>
            </a:r>
            <a:pPr indent="0" marL="0">
              <a:buNone/>
            </a:pPr>
            <a:r>
              <a:rPr lang="en-US" sz="1000" dirty="0">
                <a:solidFill>
                  <a:srgbClr val="FF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Signals &amp; Insight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3771" y="2011680"/>
            <a:ext cx="2499284" cy="34290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5" name="Text 13"/>
          <p:cNvSpPr/>
          <p:nvPr/>
        </p:nvSpPr>
        <p:spPr>
          <a:xfrm>
            <a:off x="9143771" y="2011680"/>
            <a:ext cx="2499284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B7B7B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PHOTO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3771" y="5486400"/>
            <a:ext cx="24992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 Lead
</a:t>
            </a:r>
            <a:pPr indent="0" marL="0">
              <a:buNone/>
            </a:pPr>
            <a:r>
              <a:rPr lang="en-US" sz="1000" dirty="0">
                <a:solidFill>
                  <a:srgbClr val="FF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&amp; Web3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Company Profile 2026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986406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Cultural Intelligence Agency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loving-quirky-ritchie/mnt/outputs/skill-build/bubu-presentation/assets/logo/bubu-mark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9967593" y="-1367942"/>
            <a:ext cx="3587262" cy="6217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05311" y="512064"/>
            <a:ext cx="237744" cy="237744"/>
          </a:xfrm>
          <a:prstGeom prst="rect">
            <a:avLst/>
          </a:prstGeom>
          <a:solidFill>
            <a:srgbClr val="FF5E00"/>
          </a:solidFill>
          <a:ln/>
        </p:spPr>
      </p:sp>
      <p:sp>
        <p:nvSpPr>
          <p:cNvPr id="4" name="Text 1"/>
          <p:cNvSpPr/>
          <p:nvPr/>
        </p:nvSpPr>
        <p:spPr>
          <a:xfrm>
            <a:off x="502920" y="50292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“</a:t>
            </a:r>
            <a:endParaRPr lang="en-US" sz="13000" dirty="0"/>
          </a:p>
        </p:txBody>
      </p:sp>
      <p:sp>
        <p:nvSpPr>
          <p:cNvPr id="5" name="Text 2"/>
          <p:cNvSpPr/>
          <p:nvPr/>
        </p:nvSpPr>
        <p:spPr>
          <a:xfrm>
            <a:off x="548640" y="2011680"/>
            <a:ext cx="11094415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BUBU didn’t run a campaign for us — they built a community that carried the brand far beyond the launch.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54864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Global Brand Partner
</a:t>
            </a:r>
            <a:pPr indent="0" marL="0">
              <a:buNone/>
            </a:pPr>
            <a:r>
              <a:rPr lang="en-US" sz="1100" dirty="0">
                <a:solidFill>
                  <a:srgbClr val="B7B7B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Consumer Goods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7B7B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Company Profile 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986406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7B7B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Cultural Intelligence Agency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MANCHESTER UNITED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1405311" y="512064"/>
            <a:ext cx="237744" cy="237744"/>
          </a:xfrm>
          <a:prstGeom prst="rect">
            <a:avLst/>
          </a:prstGeom>
          <a:solidFill>
            <a:srgbClr val="FF5E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417320"/>
            <a:ext cx="5486400" cy="498348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1417320"/>
            <a:ext cx="5486400" cy="4983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B7B7B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CAMPAIGN VISUAL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35040" y="1417320"/>
            <a:ext cx="560801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DECADE MANAGING UNITED’S DIGITAL PRESENCE ACROSS INDONESIA &amp; MALAYSIA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35040" y="2697480"/>
            <a:ext cx="56080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THROUGH SOCIAL MEDIA &amp; CREATIVE CAMPAIGN STRATEGY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35040" y="3081528"/>
            <a:ext cx="5608015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Home to one of United’s largest fan communities, Indonesia &amp; Malaysia became a key market for digital fan engagement. For over a decade BUBU has grown the regional community through social content, campaigns and audience-driven experiences.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035040" y="4453128"/>
            <a:ext cx="28040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Instagram
</a:t>
            </a:r>
            <a:pPr indent="0" marL="0">
              <a:buNone/>
            </a:pPr>
            <a:r>
              <a:rPr lang="en-US" sz="34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17.7M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839048" y="4453128"/>
            <a:ext cx="28040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TikTok
</a:t>
            </a:r>
            <a:pPr indent="0" marL="0">
              <a:buNone/>
            </a:pPr>
            <a:r>
              <a:rPr lang="en-US" sz="34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62.5M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35040" y="5413248"/>
            <a:ext cx="5608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SERVICES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35040" y="5705856"/>
            <a:ext cx="56080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Digital Campaign</a:t>
            </a:r>
            <a:endParaRPr lang="en-US" sz="11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Social Media Optimization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Company Profile 2026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986406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Cultural Intelligence Agency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71055" y="0"/>
            <a:ext cx="5120640" cy="68580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3" name="Text 1"/>
          <p:cNvSpPr/>
          <p:nvPr/>
        </p:nvSpPr>
        <p:spPr>
          <a:xfrm>
            <a:off x="7071055" y="0"/>
            <a:ext cx="5120640" cy="685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B7B7B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CAMPAIGN VISUAL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1405311" y="512064"/>
            <a:ext cx="237744" cy="237744"/>
          </a:xfrm>
          <a:prstGeom prst="rect">
            <a:avLst/>
          </a:prstGeom>
          <a:solidFill>
            <a:srgbClr val="FF5E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0080"/>
            <a:ext cx="6065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CASE STUDY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606521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WARDAH ×</a:t>
            </a:r>
            <a:endParaRPr lang="en-US" sz="48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BRAVE BEAUTY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6065215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global campaign where modest beauty met a worldwide conversation — turning a product launch into a cultural statement on identity and confidence.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114800"/>
            <a:ext cx="303260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4
</a:t>
            </a:r>
            <a:pPr indent="0" marL="0">
              <a:buNone/>
            </a:pPr>
            <a:r>
              <a:rPr lang="en-US" sz="1100" dirty="0">
                <a:solidFill>
                  <a:srgbClr val="43434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National outlets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581248" y="4114800"/>
            <a:ext cx="303260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10M+
</a:t>
            </a:r>
            <a:pPr indent="0" marL="0">
              <a:buNone/>
            </a:pPr>
            <a:r>
              <a:rPr lang="en-US" sz="1100" dirty="0">
                <a:solidFill>
                  <a:srgbClr val="43434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Earned reach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Company Profile 2026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986406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Cultural Intelligence Agency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5A5A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IMAGE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05311" y="512064"/>
            <a:ext cx="237744" cy="237744"/>
          </a:xfrm>
          <a:prstGeom prst="rect">
            <a:avLst/>
          </a:prstGeom>
          <a:solidFill>
            <a:srgbClr val="FF5E0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2296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“</a:t>
            </a:r>
            <a:endParaRPr lang="en-US" sz="120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11094415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don’t sell campaigns. We build movements.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54864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BUBU
</a:t>
            </a:r>
            <a:pPr indent="0" marL="0">
              <a:buNone/>
            </a:pPr>
            <a:r>
              <a:rPr lang="en-US" sz="1100" dirty="0">
                <a:solidFill>
                  <a:srgbClr val="B7B7B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Cultural Intelligence Agency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7B7B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Company Profile 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986406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7B7B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Cultural Intelligence Agency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loving-quirky-ritchie/mnt/outputs/skill-build/bubu-presentation/assets/logo/bubu-mark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9967593" y="-1367942"/>
            <a:ext cx="3587262" cy="6217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05840" y="822960"/>
            <a:ext cx="146304" cy="146304"/>
          </a:xfrm>
          <a:prstGeom prst="mathPlus">
            <a:avLst/>
          </a:prstGeom>
          <a:solidFill>
            <a:srgbClr val="3A3A3A"/>
          </a:solidFill>
          <a:ln/>
        </p:spPr>
      </p:sp>
      <p:sp>
        <p:nvSpPr>
          <p:cNvPr id="4" name="Shape 1"/>
          <p:cNvSpPr/>
          <p:nvPr/>
        </p:nvSpPr>
        <p:spPr>
          <a:xfrm>
            <a:off x="11338560" y="1280160"/>
            <a:ext cx="146304" cy="146304"/>
          </a:xfrm>
          <a:prstGeom prst="mathMultiply">
            <a:avLst/>
          </a:prstGeom>
          <a:solidFill>
            <a:srgbClr val="3A3A3A"/>
          </a:solidFill>
          <a:ln/>
        </p:spPr>
      </p:sp>
      <p:sp>
        <p:nvSpPr>
          <p:cNvPr id="5" name="Shape 2"/>
          <p:cNvSpPr/>
          <p:nvPr/>
        </p:nvSpPr>
        <p:spPr>
          <a:xfrm>
            <a:off x="822960" y="5852160"/>
            <a:ext cx="146304" cy="146304"/>
          </a:xfrm>
          <a:prstGeom prst="mathMultiply">
            <a:avLst/>
          </a:prstGeom>
          <a:solidFill>
            <a:srgbClr val="3A3A3A"/>
          </a:solidFill>
          <a:ln/>
        </p:spPr>
      </p:sp>
      <p:sp>
        <p:nvSpPr>
          <p:cNvPr id="6" name="Shape 3"/>
          <p:cNvSpPr/>
          <p:nvPr/>
        </p:nvSpPr>
        <p:spPr>
          <a:xfrm>
            <a:off x="10881360" y="6035040"/>
            <a:ext cx="146304" cy="146304"/>
          </a:xfrm>
          <a:prstGeom prst="mathPlus">
            <a:avLst/>
          </a:prstGeom>
          <a:solidFill>
            <a:srgbClr val="3A3A3A"/>
          </a:solidFill>
          <a:ln/>
        </p:spPr>
      </p:sp>
      <p:sp>
        <p:nvSpPr>
          <p:cNvPr id="7" name="Shape 4"/>
          <p:cNvSpPr/>
          <p:nvPr/>
        </p:nvSpPr>
        <p:spPr>
          <a:xfrm>
            <a:off x="6035040" y="640080"/>
            <a:ext cx="146304" cy="146304"/>
          </a:xfrm>
          <a:prstGeom prst="mathPlus">
            <a:avLst/>
          </a:prstGeom>
          <a:solidFill>
            <a:srgbClr val="3A3A3A"/>
          </a:solidFill>
          <a:ln/>
        </p:spPr>
      </p:sp>
      <p:sp>
        <p:nvSpPr>
          <p:cNvPr id="8" name="Shape 5"/>
          <p:cNvSpPr/>
          <p:nvPr/>
        </p:nvSpPr>
        <p:spPr>
          <a:xfrm>
            <a:off x="11612880" y="3566160"/>
            <a:ext cx="146304" cy="146304"/>
          </a:xfrm>
          <a:prstGeom prst="mathPlus">
            <a:avLst/>
          </a:prstGeom>
          <a:solidFill>
            <a:srgbClr val="3A3A3A"/>
          </a:solidFill>
          <a:ln/>
        </p:spPr>
      </p:sp>
      <p:sp>
        <p:nvSpPr>
          <p:cNvPr id="9" name="Shape 6"/>
          <p:cNvSpPr/>
          <p:nvPr/>
        </p:nvSpPr>
        <p:spPr>
          <a:xfrm>
            <a:off x="11405311" y="512064"/>
            <a:ext cx="237744" cy="237744"/>
          </a:xfrm>
          <a:prstGeom prst="rect">
            <a:avLst/>
          </a:prstGeom>
          <a:solidFill>
            <a:srgbClr val="FF5E00"/>
          </a:solidFill>
          <a:ln/>
        </p:spPr>
      </p:sp>
      <p:pic>
        <p:nvPicPr>
          <p:cNvPr id="10" name="Image 1" descr="/sessions/loving-quirky-ritchie/mnt/outputs/skill-build/bubu-presentation/assets/logo/bubu-wordmark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31520"/>
            <a:ext cx="1554480" cy="7772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" y="2103120"/>
            <a:ext cx="11094415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66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LET’S BUILD
</a:t>
            </a:r>
            <a:pPr indent="0" marL="0">
              <a:lnSpc>
                <a:spcPct val="92000"/>
              </a:lnSpc>
              <a:buNone/>
            </a:pPr>
            <a:r>
              <a:rPr lang="en-US" sz="66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WHAT MATTERS.</a:t>
            </a:r>
            <a:endParaRPr lang="en-US" sz="6600" dirty="0"/>
          </a:p>
        </p:txBody>
      </p:sp>
      <p:sp>
        <p:nvSpPr>
          <p:cNvPr id="12" name="Text 8"/>
          <p:cNvSpPr/>
          <p:nvPr/>
        </p:nvSpPr>
        <p:spPr>
          <a:xfrm>
            <a:off x="548640" y="557784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BUBU.COM   </a:t>
            </a:r>
            <a:pPr indent="0" marL="0">
              <a:buNone/>
            </a:pPr>
            <a:r>
              <a:rPr lang="en-US" sz="1300" dirty="0">
                <a:solidFill>
                  <a:srgbClr val="B7B7B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hello@bubu.com   ·   +6221 38808185   ·   Jakarta · Dubai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48640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7B7B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Cultural Continuum Co.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4986406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7B7B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Cultural Intelligence Agency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Cultural Continuum Co.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BUBU Template — Layout Library</dc:subject>
  <dc:creator>BUBU — Cultural Intelligence Agency</dc:creator>
  <cp:lastModifiedBy>BUBU — Cultural Intelligence Agency</cp:lastModifiedBy>
  <cp:revision>1</cp:revision>
  <dcterms:created xsi:type="dcterms:W3CDTF">2026-06-26T02:58:48Z</dcterms:created>
  <dcterms:modified xsi:type="dcterms:W3CDTF">2026-06-26T02:58:48Z</dcterms:modified>
</cp:coreProperties>
</file>